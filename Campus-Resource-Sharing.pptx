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95387" y="414784"/>
            <a:ext cx="61912" cy="61912"/>
          </a:xfrm>
          <a:prstGeom prst="ellipse">
            <a:avLst/>
          </a:prstGeom>
          <a:solidFill>
            <a:srgbClr val="E7A547"/>
          </a:solidFill>
          <a:ln/>
        </p:spPr>
      </p:sp>
      <p:sp>
        <p:nvSpPr>
          <p:cNvPr id="5" name="Text 1"/>
          <p:cNvSpPr/>
          <p:nvPr/>
        </p:nvSpPr>
        <p:spPr>
          <a:xfrm>
            <a:off x="749722" y="360015"/>
            <a:ext cx="276243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216" kern="0" dirty="0">
                <a:solidFill>
                  <a:srgbClr val="E7A54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CAMPUS RESOURCE SHARING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594345" y="4598343"/>
            <a:ext cx="730352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194" kern="0" dirty="0">
                <a:solidFill>
                  <a:srgbClr val="A6AAA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01 / 06</a:t>
            </a:r>
            <a:endParaRPr lang="en-US" sz="970" dirty="0"/>
          </a:p>
        </p:txBody>
      </p:sp>
      <p:sp>
        <p:nvSpPr>
          <p:cNvPr id="7" name="Shape 3"/>
          <p:cNvSpPr/>
          <p:nvPr/>
        </p:nvSpPr>
        <p:spPr>
          <a:xfrm>
            <a:off x="8258101" y="4491930"/>
            <a:ext cx="290513" cy="290513"/>
          </a:xfrm>
          <a:prstGeom prst="ellipse">
            <a:avLst/>
          </a:prstGeom>
          <a:ln w="9525">
            <a:solidFill>
              <a:srgbClr val="F6F1E8">
                <a:alpha val="70196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348588" y="4636889"/>
            <a:ext cx="109537" cy="14288"/>
          </a:xfrm>
          <a:prstGeom prst="rect">
            <a:avLst/>
          </a:prstGeom>
          <a:solidFill>
            <a:srgbClr val="E7A547"/>
          </a:solidFill>
          <a:ln/>
        </p:spPr>
      </p:sp>
      <p:sp>
        <p:nvSpPr>
          <p:cNvPr id="9" name="Shape 5"/>
          <p:cNvSpPr/>
          <p:nvPr/>
        </p:nvSpPr>
        <p:spPr>
          <a:xfrm>
            <a:off x="593378" y="1531590"/>
            <a:ext cx="733425" cy="33337"/>
          </a:xfrm>
          <a:prstGeom prst="rect">
            <a:avLst/>
          </a:prstGeom>
          <a:solidFill>
            <a:srgbClr val="E7A547"/>
          </a:solidFill>
          <a:ln/>
        </p:spPr>
      </p:sp>
      <p:sp>
        <p:nvSpPr>
          <p:cNvPr id="10" name="Text 6"/>
          <p:cNvSpPr/>
          <p:nvPr/>
        </p:nvSpPr>
        <p:spPr>
          <a:xfrm>
            <a:off x="594345" y="1668066"/>
            <a:ext cx="5237485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960" b="1" spc="-238" kern="0" dirty="0">
                <a:solidFill>
                  <a:srgbClr val="F6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Campus resources</a:t>
            </a:r>
            <a:endParaRPr lang="en-US" sz="3960" dirty="0"/>
          </a:p>
        </p:txBody>
      </p:sp>
      <p:sp>
        <p:nvSpPr>
          <p:cNvPr id="11" name="Text 7"/>
          <p:cNvSpPr/>
          <p:nvPr/>
        </p:nvSpPr>
        <p:spPr>
          <a:xfrm>
            <a:off x="594345" y="2160836"/>
            <a:ext cx="5641077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960" b="1" spc="-238" kern="0" dirty="0">
                <a:solidFill>
                  <a:srgbClr val="F6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should keep moving</a:t>
            </a:r>
            <a:endParaRPr lang="en-US" sz="3960" dirty="0"/>
          </a:p>
        </p:txBody>
      </p:sp>
      <p:sp>
        <p:nvSpPr>
          <p:cNvPr id="12" name="Text 8"/>
          <p:cNvSpPr/>
          <p:nvPr/>
        </p:nvSpPr>
        <p:spPr>
          <a:xfrm>
            <a:off x="594345" y="2902148"/>
            <a:ext cx="421428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620"/>
              </a:spcBef>
              <a:buNone/>
            </a:pPr>
            <a:r>
              <a:rPr lang="en-US" sz="1580" b="1" dirty="0">
                <a:solidFill>
                  <a:srgbClr val="DFDDD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student-to-student marketplace for</a:t>
            </a:r>
            <a:endParaRPr lang="en-US" sz="1580" dirty="0"/>
          </a:p>
        </p:txBody>
      </p:sp>
      <p:sp>
        <p:nvSpPr>
          <p:cNvPr id="13" name="Text 9"/>
          <p:cNvSpPr/>
          <p:nvPr/>
        </p:nvSpPr>
        <p:spPr>
          <a:xfrm>
            <a:off x="594345" y="3127400"/>
            <a:ext cx="423643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620"/>
              </a:spcBef>
              <a:buNone/>
            </a:pPr>
            <a:r>
              <a:rPr lang="en-US" sz="1580" b="1" dirty="0">
                <a:solidFill>
                  <a:srgbClr val="DFDDD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textbooks, lab gear, drawing kits, and</a:t>
            </a:r>
            <a:endParaRPr lang="en-US" sz="1580" dirty="0"/>
          </a:p>
        </p:txBody>
      </p:sp>
      <p:sp>
        <p:nvSpPr>
          <p:cNvPr id="14" name="Text 10"/>
          <p:cNvSpPr/>
          <p:nvPr/>
        </p:nvSpPr>
        <p:spPr>
          <a:xfrm>
            <a:off x="594345" y="3352651"/>
            <a:ext cx="72058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620"/>
              </a:spcBef>
              <a:buNone/>
            </a:pPr>
            <a:r>
              <a:rPr lang="en-US" sz="1580" b="1" dirty="0">
                <a:solidFill>
                  <a:srgbClr val="DFDDD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more.</a:t>
            </a:r>
            <a:endParaRPr lang="en-US" sz="15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11142" y="-823912"/>
            <a:ext cx="4848225" cy="4848225"/>
          </a:xfrm>
          <a:prstGeom prst="ellipse">
            <a:avLst/>
          </a:prstGeom>
          <a:ln w="9525">
            <a:solidFill>
              <a:srgbClr val="14273B">
                <a:alpha val="10196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943116" y="-463339"/>
            <a:ext cx="3567113" cy="3567113"/>
          </a:xfrm>
          <a:prstGeom prst="ellipse">
            <a:avLst/>
          </a:prstGeom>
          <a:ln w="9525">
            <a:solidFill>
              <a:srgbClr val="E7A447">
                <a:alpha val="45098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94345" y="360015"/>
            <a:ext cx="85794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216" kern="0" dirty="0">
                <a:solidFill>
                  <a:srgbClr val="65757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GAP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031807" y="360015"/>
            <a:ext cx="730352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194" kern="0" dirty="0">
                <a:solidFill>
                  <a:srgbClr val="8F969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02 / 06</a:t>
            </a:r>
            <a:endParaRPr lang="en-US" sz="970" dirty="0"/>
          </a:p>
        </p:txBody>
      </p:sp>
      <p:sp>
        <p:nvSpPr>
          <p:cNvPr id="7" name="Text 4"/>
          <p:cNvSpPr/>
          <p:nvPr/>
        </p:nvSpPr>
        <p:spPr>
          <a:xfrm>
            <a:off x="594345" y="756270"/>
            <a:ext cx="4650574" cy="538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10" b="1" spc="-199" kern="0" dirty="0">
                <a:solidFill>
                  <a:srgbClr val="112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Useful resources sit</a:t>
            </a:r>
            <a:endParaRPr lang="en-US" sz="3310" dirty="0"/>
          </a:p>
        </p:txBody>
      </p:sp>
      <p:sp>
        <p:nvSpPr>
          <p:cNvPr id="8" name="Text 5"/>
          <p:cNvSpPr/>
          <p:nvPr/>
        </p:nvSpPr>
        <p:spPr>
          <a:xfrm>
            <a:off x="594345" y="1168375"/>
            <a:ext cx="1818851" cy="538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10" b="1" spc="-199" kern="0" dirty="0">
                <a:solidFill>
                  <a:srgbClr val="112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unused</a:t>
            </a:r>
            <a:endParaRPr lang="en-US" sz="3310" dirty="0"/>
          </a:p>
        </p:txBody>
      </p:sp>
      <p:sp>
        <p:nvSpPr>
          <p:cNvPr id="9" name="Shape 6"/>
          <p:cNvSpPr/>
          <p:nvPr/>
        </p:nvSpPr>
        <p:spPr>
          <a:xfrm>
            <a:off x="594047" y="2005124"/>
            <a:ext cx="3557588" cy="528638"/>
          </a:xfrm>
          <a:prstGeom prst="rect">
            <a:avLst/>
          </a:prstGeom>
          <a:ln/>
        </p:spPr>
      </p:sp>
      <p:sp>
        <p:nvSpPr>
          <p:cNvPr id="10" name="Text 7"/>
          <p:cNvSpPr/>
          <p:nvPr/>
        </p:nvSpPr>
        <p:spPr>
          <a:xfrm>
            <a:off x="594345" y="2136949"/>
            <a:ext cx="35520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60" b="1" dirty="0">
                <a:solidFill>
                  <a:srgbClr val="E7A54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660" dirty="0"/>
          </a:p>
        </p:txBody>
      </p:sp>
      <p:sp>
        <p:nvSpPr>
          <p:cNvPr id="11" name="Text 8"/>
          <p:cNvSpPr/>
          <p:nvPr/>
        </p:nvSpPr>
        <p:spPr>
          <a:xfrm>
            <a:off x="942454" y="2084561"/>
            <a:ext cx="371501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11263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First-year students need affordable</a:t>
            </a:r>
            <a:endParaRPr lang="en-US" sz="1480" dirty="0"/>
          </a:p>
        </p:txBody>
      </p:sp>
      <p:sp>
        <p:nvSpPr>
          <p:cNvPr id="12" name="Text 9"/>
          <p:cNvSpPr/>
          <p:nvPr/>
        </p:nvSpPr>
        <p:spPr>
          <a:xfrm>
            <a:off x="942454" y="2294483"/>
            <a:ext cx="198427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11263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academic supplies</a:t>
            </a:r>
            <a:endParaRPr lang="en-US" sz="1480" dirty="0"/>
          </a:p>
        </p:txBody>
      </p:sp>
      <p:sp>
        <p:nvSpPr>
          <p:cNvPr id="13" name="Shape 10"/>
          <p:cNvSpPr/>
          <p:nvPr/>
        </p:nvSpPr>
        <p:spPr>
          <a:xfrm>
            <a:off x="4352218" y="2005124"/>
            <a:ext cx="3557588" cy="528638"/>
          </a:xfrm>
          <a:prstGeom prst="rect">
            <a:avLst/>
          </a:prstGeom>
          <a:ln/>
        </p:spPr>
      </p:sp>
      <p:sp>
        <p:nvSpPr>
          <p:cNvPr id="14" name="Text 11"/>
          <p:cNvSpPr/>
          <p:nvPr/>
        </p:nvSpPr>
        <p:spPr>
          <a:xfrm>
            <a:off x="4352479" y="2136949"/>
            <a:ext cx="39670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60" b="1" dirty="0">
                <a:solidFill>
                  <a:srgbClr val="E7A54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660" dirty="0"/>
          </a:p>
        </p:txBody>
      </p:sp>
      <p:sp>
        <p:nvSpPr>
          <p:cNvPr id="15" name="Text 12"/>
          <p:cNvSpPr/>
          <p:nvPr/>
        </p:nvSpPr>
        <p:spPr>
          <a:xfrm>
            <a:off x="4732511" y="2084561"/>
            <a:ext cx="347365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11263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Second-year and senior students</a:t>
            </a:r>
            <a:endParaRPr lang="en-US" sz="1480" dirty="0"/>
          </a:p>
        </p:txBody>
      </p:sp>
      <p:sp>
        <p:nvSpPr>
          <p:cNvPr id="16" name="Text 13"/>
          <p:cNvSpPr/>
          <p:nvPr/>
        </p:nvSpPr>
        <p:spPr>
          <a:xfrm>
            <a:off x="4732511" y="2294483"/>
            <a:ext cx="232479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11263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often stop using them</a:t>
            </a:r>
            <a:endParaRPr lang="en-US" sz="1480" dirty="0"/>
          </a:p>
        </p:txBody>
      </p:sp>
      <p:sp>
        <p:nvSpPr>
          <p:cNvPr id="17" name="Shape 14"/>
          <p:cNvSpPr/>
          <p:nvPr/>
        </p:nvSpPr>
        <p:spPr>
          <a:xfrm>
            <a:off x="594047" y="2666107"/>
            <a:ext cx="3557588" cy="738188"/>
          </a:xfrm>
          <a:prstGeom prst="rect">
            <a:avLst/>
          </a:prstGeom>
          <a:ln/>
        </p:spPr>
      </p:sp>
      <p:sp>
        <p:nvSpPr>
          <p:cNvPr id="18" name="Text 15"/>
          <p:cNvSpPr/>
          <p:nvPr/>
        </p:nvSpPr>
        <p:spPr>
          <a:xfrm>
            <a:off x="594345" y="2797746"/>
            <a:ext cx="3997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60" b="1" dirty="0">
                <a:solidFill>
                  <a:srgbClr val="E7A54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660" dirty="0"/>
          </a:p>
        </p:txBody>
      </p:sp>
      <p:sp>
        <p:nvSpPr>
          <p:cNvPr id="19" name="Text 16"/>
          <p:cNvSpPr/>
          <p:nvPr/>
        </p:nvSpPr>
        <p:spPr>
          <a:xfrm>
            <a:off x="976685" y="2745358"/>
            <a:ext cx="356884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11263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Buying new is expensive for items</a:t>
            </a:r>
            <a:endParaRPr lang="en-US" sz="1480" dirty="0"/>
          </a:p>
        </p:txBody>
      </p:sp>
      <p:sp>
        <p:nvSpPr>
          <p:cNvPr id="20" name="Text 17"/>
          <p:cNvSpPr/>
          <p:nvPr/>
        </p:nvSpPr>
        <p:spPr>
          <a:xfrm>
            <a:off x="976685" y="2955280"/>
            <a:ext cx="278042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11263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needed only once or twice</a:t>
            </a:r>
            <a:endParaRPr lang="en-US" sz="1480" dirty="0"/>
          </a:p>
        </p:txBody>
      </p:sp>
      <p:sp>
        <p:nvSpPr>
          <p:cNvPr id="21" name="Shape 18"/>
          <p:cNvSpPr/>
          <p:nvPr/>
        </p:nvSpPr>
        <p:spPr>
          <a:xfrm>
            <a:off x="4352218" y="2666107"/>
            <a:ext cx="3557588" cy="738188"/>
          </a:xfrm>
          <a:prstGeom prst="rect">
            <a:avLst/>
          </a:prstGeom>
          <a:ln/>
        </p:spPr>
      </p:sp>
      <p:sp>
        <p:nvSpPr>
          <p:cNvPr id="22" name="Text 19"/>
          <p:cNvSpPr/>
          <p:nvPr/>
        </p:nvSpPr>
        <p:spPr>
          <a:xfrm>
            <a:off x="4352479" y="2797746"/>
            <a:ext cx="40685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60" b="1" dirty="0">
                <a:solidFill>
                  <a:srgbClr val="E7A54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660" dirty="0"/>
          </a:p>
        </p:txBody>
      </p:sp>
      <p:sp>
        <p:nvSpPr>
          <p:cNvPr id="23" name="Text 20"/>
          <p:cNvSpPr/>
          <p:nvPr/>
        </p:nvSpPr>
        <p:spPr>
          <a:xfrm>
            <a:off x="4740325" y="2745358"/>
            <a:ext cx="360096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11263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Students lack one trusted place to</a:t>
            </a:r>
            <a:endParaRPr lang="en-US" sz="1480" dirty="0"/>
          </a:p>
        </p:txBody>
      </p:sp>
      <p:sp>
        <p:nvSpPr>
          <p:cNvPr id="24" name="Text 21"/>
          <p:cNvSpPr/>
          <p:nvPr/>
        </p:nvSpPr>
        <p:spPr>
          <a:xfrm>
            <a:off x="4740325" y="2955280"/>
            <a:ext cx="305971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11263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find, compare, and exchange</a:t>
            </a:r>
            <a:endParaRPr lang="en-US" sz="1480" dirty="0"/>
          </a:p>
        </p:txBody>
      </p:sp>
      <p:sp>
        <p:nvSpPr>
          <p:cNvPr id="25" name="Text 22"/>
          <p:cNvSpPr/>
          <p:nvPr/>
        </p:nvSpPr>
        <p:spPr>
          <a:xfrm>
            <a:off x="4740325" y="3165202"/>
            <a:ext cx="106719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11263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resources</a:t>
            </a:r>
            <a:endParaRPr lang="en-US" sz="1480" dirty="0"/>
          </a:p>
        </p:txBody>
      </p:sp>
      <p:sp>
        <p:nvSpPr>
          <p:cNvPr id="26" name="Shape 23"/>
          <p:cNvSpPr/>
          <p:nvPr/>
        </p:nvSpPr>
        <p:spPr>
          <a:xfrm>
            <a:off x="595387" y="4670227"/>
            <a:ext cx="61912" cy="61912"/>
          </a:xfrm>
          <a:prstGeom prst="ellipse">
            <a:avLst/>
          </a:prstGeom>
          <a:solidFill>
            <a:srgbClr val="E7A547"/>
          </a:solidFill>
          <a:ln/>
        </p:spPr>
      </p:sp>
      <p:sp>
        <p:nvSpPr>
          <p:cNvPr id="27" name="Text 24"/>
          <p:cNvSpPr/>
          <p:nvPr/>
        </p:nvSpPr>
        <p:spPr>
          <a:xfrm>
            <a:off x="749722" y="4618881"/>
            <a:ext cx="306677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173" kern="0" dirty="0">
                <a:solidFill>
                  <a:srgbClr val="65757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START WITH WHAT ALREADY EXISTS</a:t>
            </a:r>
            <a:endParaRPr lang="en-US" sz="86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047" y="2005124"/>
            <a:ext cx="3557588" cy="528638"/>
          </a:xfrm>
          <a:prstGeom prst="rect">
            <a:avLst/>
          </a:prstGeom>
        </p:spPr>
      </p:pic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52218" y="2005124"/>
            <a:ext cx="3557588" cy="528638"/>
          </a:xfrm>
          <a:prstGeom prst="rect">
            <a:avLst/>
          </a:prstGeom>
        </p:spPr>
      </p:pic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4047" y="2666107"/>
            <a:ext cx="3557588" cy="738188"/>
          </a:xfrm>
          <a:prstGeom prst="rect">
            <a:avLst/>
          </a:prstGeom>
        </p:spPr>
      </p:pic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52218" y="2666107"/>
            <a:ext cx="3557588" cy="7381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45" y="360015"/>
            <a:ext cx="146285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216" kern="0" dirty="0">
                <a:solidFill>
                  <a:srgbClr val="E7A54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PLATFORM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031807" y="360015"/>
            <a:ext cx="730352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194" kern="0" dirty="0">
                <a:solidFill>
                  <a:srgbClr val="7882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03 / 06</a:t>
            </a:r>
            <a:endParaRPr lang="en-US" sz="970" dirty="0"/>
          </a:p>
        </p:txBody>
      </p:sp>
      <p:sp>
        <p:nvSpPr>
          <p:cNvPr id="5" name="Text 2"/>
          <p:cNvSpPr/>
          <p:nvPr/>
        </p:nvSpPr>
        <p:spPr>
          <a:xfrm>
            <a:off x="594345" y="709613"/>
            <a:ext cx="6452131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240" b="1" spc="-194" kern="0" dirty="0">
                <a:solidFill>
                  <a:srgbClr val="F6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platform. Many ways to</a:t>
            </a:r>
            <a:endParaRPr lang="en-US" sz="3240" dirty="0"/>
          </a:p>
        </p:txBody>
      </p:sp>
      <p:sp>
        <p:nvSpPr>
          <p:cNvPr id="6" name="Text 3"/>
          <p:cNvSpPr/>
          <p:nvPr/>
        </p:nvSpPr>
        <p:spPr>
          <a:xfrm>
            <a:off x="594345" y="1112862"/>
            <a:ext cx="1443410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240" b="1" spc="-194" kern="0" dirty="0">
                <a:solidFill>
                  <a:srgbClr val="F6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share.</a:t>
            </a:r>
            <a:endParaRPr lang="en-US" sz="3240" dirty="0"/>
          </a:p>
        </p:txBody>
      </p:sp>
      <p:sp>
        <p:nvSpPr>
          <p:cNvPr id="7" name="Shape 4"/>
          <p:cNvSpPr/>
          <p:nvPr/>
        </p:nvSpPr>
        <p:spPr>
          <a:xfrm>
            <a:off x="594345" y="1955192"/>
            <a:ext cx="3886200" cy="1285875"/>
          </a:xfrm>
          <a:prstGeom prst="rect">
            <a:avLst/>
          </a:prstGeom>
          <a:solidFill>
            <a:srgbClr val="EEEEEE">
              <a:alpha val="5882"/>
            </a:srgbClr>
          </a:solidFill>
          <a:ln w="4763">
            <a:solidFill>
              <a:srgbClr val="F5F0E6">
                <a:alpha val="2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0249" y="2171030"/>
            <a:ext cx="278584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E7A54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0249" y="2408337"/>
            <a:ext cx="3864575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F1E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Students post textbooks, drawing kits,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0249" y="2607990"/>
            <a:ext cx="3070257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F1E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calculators, lab resources, and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00249" y="2807643"/>
            <a:ext cx="1151647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F1E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equipment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663380" y="1955192"/>
            <a:ext cx="3886200" cy="1285875"/>
          </a:xfrm>
          <a:prstGeom prst="rect">
            <a:avLst/>
          </a:prstGeom>
          <a:solidFill>
            <a:srgbClr val="EEEEEE">
              <a:alpha val="5882"/>
            </a:srgbClr>
          </a:solidFill>
          <a:ln w="4763">
            <a:solidFill>
              <a:srgbClr val="F5F0E6">
                <a:alpha val="2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69284" y="2169914"/>
            <a:ext cx="301221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E7A54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178068" y="2162733"/>
            <a:ext cx="166688" cy="166688"/>
          </a:xfrm>
          <a:prstGeom prst="ellipse">
            <a:avLst/>
          </a:prstGeom>
          <a:ln w="9525">
            <a:solidFill>
              <a:srgbClr val="E7A54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35218" y="2219883"/>
            <a:ext cx="52388" cy="52388"/>
          </a:xfrm>
          <a:prstGeom prst="ellipse">
            <a:avLst/>
          </a:prstGeom>
          <a:solidFill>
            <a:srgbClr val="E7A547"/>
          </a:solidFill>
          <a:ln/>
        </p:spPr>
      </p:sp>
      <p:sp>
        <p:nvSpPr>
          <p:cNvPr id="16" name="Text 13"/>
          <p:cNvSpPr/>
          <p:nvPr/>
        </p:nvSpPr>
        <p:spPr>
          <a:xfrm>
            <a:off x="4869284" y="2406104"/>
            <a:ext cx="3861480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F1E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Interested students browse by branch,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869284" y="2605757"/>
            <a:ext cx="2752956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F1E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year, category, and campus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94345" y="3360911"/>
            <a:ext cx="3886200" cy="1085850"/>
          </a:xfrm>
          <a:prstGeom prst="rect">
            <a:avLst/>
          </a:prstGeom>
          <a:solidFill>
            <a:srgbClr val="EEEEEE">
              <a:alpha val="5882"/>
            </a:srgbClr>
          </a:solidFill>
          <a:ln w="4763">
            <a:solidFill>
              <a:srgbClr val="F5F0E6">
                <a:alpha val="2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0249" y="3576563"/>
            <a:ext cx="302865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E7A54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102075" y="3567038"/>
            <a:ext cx="171450" cy="171450"/>
          </a:xfrm>
          <a:prstGeom prst="rect">
            <a:avLst/>
          </a:prstGeom>
          <a:ln w="9525">
            <a:solidFill>
              <a:srgbClr val="E7A54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0249" y="3813870"/>
            <a:ext cx="3710568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F1E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Owners choose: sell, lend, donate, or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00249" y="4013522"/>
            <a:ext cx="1949834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F1E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mark as negotiable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663380" y="3360911"/>
            <a:ext cx="3886200" cy="1085850"/>
          </a:xfrm>
          <a:prstGeom prst="rect">
            <a:avLst/>
          </a:prstGeom>
          <a:solidFill>
            <a:srgbClr val="EEEEEE">
              <a:alpha val="5882"/>
            </a:srgbClr>
          </a:solidFill>
          <a:ln w="4763">
            <a:solidFill>
              <a:srgbClr val="F5F0E6">
                <a:alpha val="2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69284" y="3576563"/>
            <a:ext cx="306638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E7A54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133755" y="3567038"/>
            <a:ext cx="209550" cy="171450"/>
          </a:xfrm>
          <a:prstGeom prst="rect">
            <a:avLst/>
          </a:prstGeom>
          <a:ln/>
        </p:spPr>
      </p:sp>
      <p:sp>
        <p:nvSpPr>
          <p:cNvPr id="26" name="Shape 23"/>
          <p:cNvSpPr/>
          <p:nvPr/>
        </p:nvSpPr>
        <p:spPr>
          <a:xfrm>
            <a:off x="8287680" y="3545049"/>
            <a:ext cx="57150" cy="57150"/>
          </a:xfrm>
          <a:prstGeom prst="ellipse">
            <a:avLst/>
          </a:prstGeom>
          <a:solidFill>
            <a:srgbClr val="E7A547"/>
          </a:solidFill>
          <a:ln/>
        </p:spPr>
      </p:sp>
      <p:sp>
        <p:nvSpPr>
          <p:cNvPr id="27" name="Text 24"/>
          <p:cNvSpPr/>
          <p:nvPr/>
        </p:nvSpPr>
        <p:spPr>
          <a:xfrm>
            <a:off x="4869284" y="3813870"/>
            <a:ext cx="3401683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F1E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Buyers message the owner before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869284" y="4013522"/>
            <a:ext cx="914638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F1E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deciding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593378" y="4760156"/>
            <a:ext cx="1647825" cy="23812"/>
          </a:xfrm>
          <a:prstGeom prst="rect">
            <a:avLst/>
          </a:prstGeom>
          <a:solidFill>
            <a:srgbClr val="E7A547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3755" y="3567038"/>
            <a:ext cx="20955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45" y="360015"/>
            <a:ext cx="136244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216" kern="0" dirty="0">
                <a:solidFill>
                  <a:srgbClr val="65757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HANDOFF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031807" y="360015"/>
            <a:ext cx="730352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194" kern="0" dirty="0">
                <a:solidFill>
                  <a:srgbClr val="8F969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04 / 06</a:t>
            </a:r>
            <a:endParaRPr lang="en-US" sz="970" dirty="0"/>
          </a:p>
        </p:txBody>
      </p:sp>
      <p:sp>
        <p:nvSpPr>
          <p:cNvPr id="5" name="Text 2"/>
          <p:cNvSpPr/>
          <p:nvPr/>
        </p:nvSpPr>
        <p:spPr>
          <a:xfrm>
            <a:off x="594345" y="709613"/>
            <a:ext cx="8028578" cy="519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200" b="1" spc="-192" kern="0" dirty="0">
                <a:solidFill>
                  <a:srgbClr val="112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unused to useful in four steps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93378" y="2006984"/>
            <a:ext cx="7591425" cy="14288"/>
          </a:xfrm>
          <a:prstGeom prst="rect">
            <a:avLst/>
          </a:prstGeom>
          <a:solidFill>
            <a:srgbClr val="0F283C">
              <a:alpha val="2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730411" y="1891717"/>
            <a:ext cx="395287" cy="395287"/>
          </a:xfrm>
          <a:prstGeom prst="ellipse">
            <a:avLst/>
          </a:prstGeom>
          <a:solidFill>
            <a:srgbClr val="E7A547"/>
          </a:solidFill>
          <a:ln/>
        </p:spPr>
      </p:sp>
      <p:sp>
        <p:nvSpPr>
          <p:cNvPr id="8" name="Text 5"/>
          <p:cNvSpPr/>
          <p:nvPr/>
        </p:nvSpPr>
        <p:spPr>
          <a:xfrm>
            <a:off x="779584" y="1975842"/>
            <a:ext cx="29686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112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330" dirty="0"/>
          </a:p>
        </p:txBody>
      </p:sp>
      <p:sp>
        <p:nvSpPr>
          <p:cNvPr id="9" name="Shape 6"/>
          <p:cNvSpPr/>
          <p:nvPr/>
        </p:nvSpPr>
        <p:spPr>
          <a:xfrm>
            <a:off x="2577517" y="1891717"/>
            <a:ext cx="395287" cy="395287"/>
          </a:xfrm>
          <a:prstGeom prst="ellipse">
            <a:avLst/>
          </a:prstGeom>
          <a:solidFill>
            <a:srgbClr val="E7A547"/>
          </a:solidFill>
          <a:ln/>
        </p:spPr>
      </p:sp>
      <p:sp>
        <p:nvSpPr>
          <p:cNvPr id="10" name="Text 7"/>
          <p:cNvSpPr/>
          <p:nvPr/>
        </p:nvSpPr>
        <p:spPr>
          <a:xfrm>
            <a:off x="2609954" y="1975842"/>
            <a:ext cx="33033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112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330" dirty="0"/>
          </a:p>
        </p:txBody>
      </p:sp>
      <p:sp>
        <p:nvSpPr>
          <p:cNvPr id="11" name="Shape 8"/>
          <p:cNvSpPr/>
          <p:nvPr/>
        </p:nvSpPr>
        <p:spPr>
          <a:xfrm>
            <a:off x="4424549" y="1891717"/>
            <a:ext cx="395287" cy="395287"/>
          </a:xfrm>
          <a:prstGeom prst="ellipse">
            <a:avLst/>
          </a:prstGeom>
          <a:solidFill>
            <a:srgbClr val="E7A547"/>
          </a:solidFill>
          <a:ln/>
        </p:spPr>
      </p:sp>
      <p:sp>
        <p:nvSpPr>
          <p:cNvPr id="12" name="Text 9"/>
          <p:cNvSpPr/>
          <p:nvPr/>
        </p:nvSpPr>
        <p:spPr>
          <a:xfrm>
            <a:off x="4455814" y="1975842"/>
            <a:ext cx="33275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112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330" dirty="0"/>
          </a:p>
        </p:txBody>
      </p:sp>
      <p:sp>
        <p:nvSpPr>
          <p:cNvPr id="13" name="Shape 10"/>
          <p:cNvSpPr/>
          <p:nvPr/>
        </p:nvSpPr>
        <p:spPr>
          <a:xfrm>
            <a:off x="6271654" y="1891717"/>
            <a:ext cx="395287" cy="395287"/>
          </a:xfrm>
          <a:prstGeom prst="ellipse">
            <a:avLst/>
          </a:prstGeom>
          <a:solidFill>
            <a:srgbClr val="E7A547"/>
          </a:solidFill>
          <a:ln/>
        </p:spPr>
      </p:sp>
      <p:sp>
        <p:nvSpPr>
          <p:cNvPr id="14" name="Text 11"/>
          <p:cNvSpPr/>
          <p:nvPr/>
        </p:nvSpPr>
        <p:spPr>
          <a:xfrm>
            <a:off x="6300028" y="1975842"/>
            <a:ext cx="33846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112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330" dirty="0"/>
          </a:p>
        </p:txBody>
      </p:sp>
      <p:sp>
        <p:nvSpPr>
          <p:cNvPr id="15" name="Text 12"/>
          <p:cNvSpPr/>
          <p:nvPr/>
        </p:nvSpPr>
        <p:spPr>
          <a:xfrm>
            <a:off x="594345" y="2483123"/>
            <a:ext cx="599658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48"/>
              </a:spcAft>
              <a:buNone/>
            </a:pPr>
            <a:r>
              <a:rPr lang="en-US" sz="1260" b="1" spc="50" kern="0" dirty="0">
                <a:solidFill>
                  <a:srgbClr val="112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POST</a:t>
            </a:r>
            <a:endParaRPr lang="en-US" sz="1260" dirty="0"/>
          </a:p>
        </p:txBody>
      </p:sp>
      <p:sp>
        <p:nvSpPr>
          <p:cNvPr id="16" name="Text 13"/>
          <p:cNvSpPr/>
          <p:nvPr/>
        </p:nvSpPr>
        <p:spPr>
          <a:xfrm>
            <a:off x="594345" y="2762473"/>
            <a:ext cx="215772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11263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 photos, condition,</a:t>
            </a:r>
            <a:endParaRPr lang="en-US" sz="1310" dirty="0"/>
          </a:p>
        </p:txBody>
      </p:sp>
      <p:sp>
        <p:nvSpPr>
          <p:cNvPr id="17" name="Text 14"/>
          <p:cNvSpPr/>
          <p:nvPr/>
        </p:nvSpPr>
        <p:spPr>
          <a:xfrm>
            <a:off x="594345" y="2948806"/>
            <a:ext cx="220154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11263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category, and expected</a:t>
            </a:r>
            <a:endParaRPr lang="en-US" sz="1310" dirty="0"/>
          </a:p>
        </p:txBody>
      </p:sp>
      <p:sp>
        <p:nvSpPr>
          <p:cNvPr id="18" name="Text 15"/>
          <p:cNvSpPr/>
          <p:nvPr/>
        </p:nvSpPr>
        <p:spPr>
          <a:xfrm>
            <a:off x="594345" y="3135139"/>
            <a:ext cx="52091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11263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price</a:t>
            </a:r>
            <a:endParaRPr lang="en-US" sz="1310" dirty="0"/>
          </a:p>
        </p:txBody>
      </p:sp>
      <p:sp>
        <p:nvSpPr>
          <p:cNvPr id="19" name="Text 16"/>
          <p:cNvSpPr/>
          <p:nvPr/>
        </p:nvSpPr>
        <p:spPr>
          <a:xfrm>
            <a:off x="2539678" y="2483123"/>
            <a:ext cx="1088477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48"/>
              </a:spcAft>
              <a:buNone/>
            </a:pPr>
            <a:r>
              <a:rPr lang="en-US" sz="1260" b="1" spc="50" kern="0" dirty="0">
                <a:solidFill>
                  <a:srgbClr val="112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DISCOVER</a:t>
            </a:r>
            <a:endParaRPr lang="en-US" sz="1260" dirty="0"/>
          </a:p>
        </p:txBody>
      </p:sp>
      <p:sp>
        <p:nvSpPr>
          <p:cNvPr id="20" name="Text 17"/>
          <p:cNvSpPr/>
          <p:nvPr/>
        </p:nvSpPr>
        <p:spPr>
          <a:xfrm>
            <a:off x="2539678" y="2762473"/>
            <a:ext cx="194170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11263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Search for resources</a:t>
            </a:r>
            <a:endParaRPr lang="en-US" sz="1310" dirty="0"/>
          </a:p>
        </p:txBody>
      </p:sp>
      <p:sp>
        <p:nvSpPr>
          <p:cNvPr id="21" name="Text 18"/>
          <p:cNvSpPr/>
          <p:nvPr/>
        </p:nvSpPr>
        <p:spPr>
          <a:xfrm>
            <a:off x="2539678" y="2948806"/>
            <a:ext cx="203535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11263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needed this semester</a:t>
            </a:r>
            <a:endParaRPr lang="en-US" sz="1310" dirty="0"/>
          </a:p>
        </p:txBody>
      </p:sp>
      <p:sp>
        <p:nvSpPr>
          <p:cNvPr id="22" name="Text 19"/>
          <p:cNvSpPr/>
          <p:nvPr/>
        </p:nvSpPr>
        <p:spPr>
          <a:xfrm>
            <a:off x="4485084" y="2483123"/>
            <a:ext cx="1189762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48"/>
              </a:spcAft>
              <a:buNone/>
            </a:pPr>
            <a:r>
              <a:rPr lang="en-US" sz="1260" b="1" spc="50" kern="0" dirty="0">
                <a:solidFill>
                  <a:srgbClr val="112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NEGOTIATE</a:t>
            </a:r>
            <a:endParaRPr lang="en-US" sz="1260" dirty="0"/>
          </a:p>
        </p:txBody>
      </p:sp>
      <p:sp>
        <p:nvSpPr>
          <p:cNvPr id="23" name="Text 20"/>
          <p:cNvSpPr/>
          <p:nvPr/>
        </p:nvSpPr>
        <p:spPr>
          <a:xfrm>
            <a:off x="4485084" y="2762473"/>
            <a:ext cx="19349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11263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Chat with the owner</a:t>
            </a:r>
            <a:endParaRPr lang="en-US" sz="1310" dirty="0"/>
          </a:p>
        </p:txBody>
      </p:sp>
      <p:sp>
        <p:nvSpPr>
          <p:cNvPr id="24" name="Text 21"/>
          <p:cNvSpPr/>
          <p:nvPr/>
        </p:nvSpPr>
        <p:spPr>
          <a:xfrm>
            <a:off x="4485084" y="2948806"/>
            <a:ext cx="215530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11263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about price, exchange,</a:t>
            </a:r>
            <a:endParaRPr lang="en-US" sz="1310" dirty="0"/>
          </a:p>
        </p:txBody>
      </p:sp>
      <p:sp>
        <p:nvSpPr>
          <p:cNvPr id="25" name="Text 22"/>
          <p:cNvSpPr/>
          <p:nvPr/>
        </p:nvSpPr>
        <p:spPr>
          <a:xfrm>
            <a:off x="4485084" y="3135139"/>
            <a:ext cx="13399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11263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 free pickup</a:t>
            </a:r>
            <a:endParaRPr lang="en-US" sz="1310" dirty="0"/>
          </a:p>
        </p:txBody>
      </p:sp>
      <p:sp>
        <p:nvSpPr>
          <p:cNvPr id="26" name="Text 23"/>
          <p:cNvSpPr/>
          <p:nvPr/>
        </p:nvSpPr>
        <p:spPr>
          <a:xfrm>
            <a:off x="6430417" y="2483123"/>
            <a:ext cx="1171768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48"/>
              </a:spcAft>
              <a:buNone/>
            </a:pPr>
            <a:r>
              <a:rPr lang="en-US" sz="1260" b="1" spc="50" kern="0" dirty="0">
                <a:solidFill>
                  <a:srgbClr val="112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COMPLETE</a:t>
            </a:r>
            <a:endParaRPr lang="en-US" sz="1260" dirty="0"/>
          </a:p>
        </p:txBody>
      </p:sp>
      <p:sp>
        <p:nvSpPr>
          <p:cNvPr id="27" name="Text 24"/>
          <p:cNvSpPr/>
          <p:nvPr/>
        </p:nvSpPr>
        <p:spPr>
          <a:xfrm>
            <a:off x="6430417" y="2762473"/>
            <a:ext cx="222079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11263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Agree on a safe handoff</a:t>
            </a:r>
            <a:endParaRPr lang="en-US" sz="1310" dirty="0"/>
          </a:p>
        </p:txBody>
      </p:sp>
      <p:sp>
        <p:nvSpPr>
          <p:cNvPr id="28" name="Text 25"/>
          <p:cNvSpPr/>
          <p:nvPr/>
        </p:nvSpPr>
        <p:spPr>
          <a:xfrm>
            <a:off x="6430417" y="2948806"/>
            <a:ext cx="177396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11263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 or near campus</a:t>
            </a:r>
            <a:endParaRPr lang="en-US" sz="1310" dirty="0"/>
          </a:p>
        </p:txBody>
      </p:sp>
      <p:sp>
        <p:nvSpPr>
          <p:cNvPr id="29" name="Text 26"/>
          <p:cNvSpPr/>
          <p:nvPr/>
        </p:nvSpPr>
        <p:spPr>
          <a:xfrm>
            <a:off x="594345" y="4618881"/>
            <a:ext cx="391971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173" kern="0" dirty="0">
                <a:solidFill>
                  <a:srgbClr val="65757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LOW-FRICTION EXCHANGE, CLOSE TO HOME</a:t>
            </a:r>
            <a:endParaRPr lang="en-US" sz="8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63D"/>
          </a:solidFill>
          <a:ln/>
        </p:spPr>
      </p:sp>
      <p:sp>
        <p:nvSpPr>
          <p:cNvPr id="3" name="Shape 1"/>
          <p:cNvSpPr/>
          <p:nvPr/>
        </p:nvSpPr>
        <p:spPr>
          <a:xfrm>
            <a:off x="4205288" y="-1081087"/>
            <a:ext cx="6219825" cy="6219825"/>
          </a:xfrm>
          <a:prstGeom prst="ellipse">
            <a:avLst/>
          </a:prstGeom>
          <a:ln w="9525">
            <a:solidFill>
              <a:srgbClr val="F5F5EB">
                <a:alpha val="10196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780" y="1708770"/>
            <a:ext cx="5029200" cy="5029200"/>
          </a:xfrm>
          <a:prstGeom prst="ellipse">
            <a:avLst/>
          </a:prstGeom>
          <a:ln w="9525">
            <a:solidFill>
              <a:srgbClr val="E8A648">
                <a:alpha val="34902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45" y="360015"/>
            <a:ext cx="107464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216" kern="0" dirty="0">
                <a:solidFill>
                  <a:srgbClr val="E7A54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VALUE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31807" y="360015"/>
            <a:ext cx="730352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194" kern="0" dirty="0">
                <a:solidFill>
                  <a:srgbClr val="7882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05 / 06</a:t>
            </a:r>
            <a:endParaRPr lang="en-US" sz="970" dirty="0"/>
          </a:p>
        </p:txBody>
      </p:sp>
      <p:sp>
        <p:nvSpPr>
          <p:cNvPr id="7" name="Text 5"/>
          <p:cNvSpPr/>
          <p:nvPr/>
        </p:nvSpPr>
        <p:spPr>
          <a:xfrm>
            <a:off x="594345" y="709613"/>
            <a:ext cx="7012052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240" b="1" spc="-194" kern="0" dirty="0">
                <a:solidFill>
                  <a:srgbClr val="F6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better deal for every student</a:t>
            </a:r>
            <a:endParaRPr lang="en-US" sz="3240" dirty="0"/>
          </a:p>
        </p:txBody>
      </p:sp>
      <p:sp>
        <p:nvSpPr>
          <p:cNvPr id="8" name="Text 6"/>
          <p:cNvSpPr/>
          <p:nvPr/>
        </p:nvSpPr>
        <p:spPr>
          <a:xfrm>
            <a:off x="594345" y="1847850"/>
            <a:ext cx="671728" cy="11287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980" b="1" spc="-698" kern="0" dirty="0">
                <a:solidFill>
                  <a:srgbClr val="E7A54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6980" dirty="0"/>
          </a:p>
        </p:txBody>
      </p:sp>
      <p:sp>
        <p:nvSpPr>
          <p:cNvPr id="9" name="Text 7"/>
          <p:cNvSpPr/>
          <p:nvPr/>
        </p:nvSpPr>
        <p:spPr>
          <a:xfrm>
            <a:off x="594345" y="2887117"/>
            <a:ext cx="1623246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134"/>
              </a:spcBef>
              <a:buNone/>
            </a:pPr>
            <a:r>
              <a:rPr lang="en-US" sz="1260" b="1" dirty="0">
                <a:solidFill>
                  <a:srgbClr val="BDBFB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perspectives, one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594345" y="3071068"/>
            <a:ext cx="1408681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134"/>
              </a:spcBef>
              <a:buNone/>
            </a:pPr>
            <a:r>
              <a:rPr lang="en-US" sz="1260" b="1" dirty="0">
                <a:solidFill>
                  <a:srgbClr val="BDBFB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shared campus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594345" y="3255020"/>
            <a:ext cx="1272667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134"/>
              </a:spcBef>
              <a:buNone/>
            </a:pPr>
            <a:r>
              <a:rPr lang="en-US" sz="1260" b="1" dirty="0">
                <a:solidFill>
                  <a:srgbClr val="BDBFB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resource loop</a:t>
            </a:r>
            <a:endParaRPr lang="en-US" sz="1260" dirty="0"/>
          </a:p>
        </p:txBody>
      </p:sp>
      <p:sp>
        <p:nvSpPr>
          <p:cNvPr id="12" name="Shape 10"/>
          <p:cNvSpPr/>
          <p:nvPr/>
        </p:nvSpPr>
        <p:spPr>
          <a:xfrm>
            <a:off x="3292264" y="2005273"/>
            <a:ext cx="2376487" cy="495300"/>
          </a:xfrm>
          <a:prstGeom prst="rect">
            <a:avLst/>
          </a:prstGeom>
          <a:ln/>
        </p:spPr>
      </p:sp>
      <p:sp>
        <p:nvSpPr>
          <p:cNvPr id="13" name="Text 11"/>
          <p:cNvSpPr/>
          <p:nvPr/>
        </p:nvSpPr>
        <p:spPr>
          <a:xfrm>
            <a:off x="3291780" y="2069083"/>
            <a:ext cx="313952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6F1E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Buyers spend less on essential</a:t>
            </a:r>
            <a:endParaRPr lang="en-US" sz="1440" dirty="0"/>
          </a:p>
        </p:txBody>
      </p:sp>
      <p:sp>
        <p:nvSpPr>
          <p:cNvPr id="14" name="Text 12"/>
          <p:cNvSpPr/>
          <p:nvPr/>
        </p:nvSpPr>
        <p:spPr>
          <a:xfrm>
            <a:off x="3291780" y="2270224"/>
            <a:ext cx="206959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6F1E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academic resources</a:t>
            </a:r>
            <a:endParaRPr lang="en-US" sz="1440" dirty="0"/>
          </a:p>
        </p:txBody>
      </p:sp>
      <p:sp>
        <p:nvSpPr>
          <p:cNvPr id="15" name="Shape 13"/>
          <p:cNvSpPr/>
          <p:nvPr/>
        </p:nvSpPr>
        <p:spPr>
          <a:xfrm>
            <a:off x="5944009" y="2005273"/>
            <a:ext cx="2376487" cy="495300"/>
          </a:xfrm>
          <a:prstGeom prst="rect">
            <a:avLst/>
          </a:prstGeom>
          <a:ln/>
        </p:spPr>
      </p:sp>
      <p:sp>
        <p:nvSpPr>
          <p:cNvPr id="16" name="Text 14"/>
          <p:cNvSpPr/>
          <p:nvPr/>
        </p:nvSpPr>
        <p:spPr>
          <a:xfrm>
            <a:off x="5943526" y="2069083"/>
            <a:ext cx="269916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6F1E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Sellers recover value from</a:t>
            </a:r>
            <a:endParaRPr lang="en-US" sz="1440" dirty="0"/>
          </a:p>
        </p:txBody>
      </p:sp>
      <p:sp>
        <p:nvSpPr>
          <p:cNvPr id="17" name="Text 15"/>
          <p:cNvSpPr/>
          <p:nvPr/>
        </p:nvSpPr>
        <p:spPr>
          <a:xfrm>
            <a:off x="5943526" y="2270224"/>
            <a:ext cx="254709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6F1E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items they no longer use</a:t>
            </a:r>
            <a:endParaRPr lang="en-US" sz="1440" dirty="0"/>
          </a:p>
        </p:txBody>
      </p:sp>
      <p:sp>
        <p:nvSpPr>
          <p:cNvPr id="18" name="Shape 16"/>
          <p:cNvSpPr/>
          <p:nvPr/>
        </p:nvSpPr>
        <p:spPr>
          <a:xfrm>
            <a:off x="3292264" y="2782156"/>
            <a:ext cx="2376487" cy="495300"/>
          </a:xfrm>
          <a:prstGeom prst="rect">
            <a:avLst/>
          </a:prstGeom>
          <a:ln/>
        </p:spPr>
      </p:sp>
      <p:sp>
        <p:nvSpPr>
          <p:cNvPr id="19" name="Text 17"/>
          <p:cNvSpPr/>
          <p:nvPr/>
        </p:nvSpPr>
        <p:spPr>
          <a:xfrm>
            <a:off x="3291780" y="2845966"/>
            <a:ext cx="248373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6F1E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Donors help juniors and</a:t>
            </a:r>
            <a:endParaRPr lang="en-US" sz="1440" dirty="0"/>
          </a:p>
        </p:txBody>
      </p:sp>
      <p:sp>
        <p:nvSpPr>
          <p:cNvPr id="20" name="Text 18"/>
          <p:cNvSpPr/>
          <p:nvPr/>
        </p:nvSpPr>
        <p:spPr>
          <a:xfrm>
            <a:off x="3291780" y="3047107"/>
            <a:ext cx="232837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6F1E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classmates get started</a:t>
            </a:r>
            <a:endParaRPr lang="en-US" sz="1440" dirty="0"/>
          </a:p>
        </p:txBody>
      </p:sp>
      <p:sp>
        <p:nvSpPr>
          <p:cNvPr id="21" name="Shape 19"/>
          <p:cNvSpPr/>
          <p:nvPr/>
        </p:nvSpPr>
        <p:spPr>
          <a:xfrm>
            <a:off x="5944009" y="2782156"/>
            <a:ext cx="2376487" cy="495300"/>
          </a:xfrm>
          <a:prstGeom prst="rect">
            <a:avLst/>
          </a:prstGeom>
          <a:ln/>
        </p:spPr>
      </p:sp>
      <p:sp>
        <p:nvSpPr>
          <p:cNvPr id="22" name="Text 20"/>
          <p:cNvSpPr/>
          <p:nvPr/>
        </p:nvSpPr>
        <p:spPr>
          <a:xfrm>
            <a:off x="5943526" y="2845966"/>
            <a:ext cx="293685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6F1E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Campuses reduce waste and</a:t>
            </a:r>
            <a:endParaRPr lang="en-US" sz="1440" dirty="0"/>
          </a:p>
        </p:txBody>
      </p:sp>
      <p:sp>
        <p:nvSpPr>
          <p:cNvPr id="23" name="Text 21"/>
          <p:cNvSpPr/>
          <p:nvPr/>
        </p:nvSpPr>
        <p:spPr>
          <a:xfrm>
            <a:off x="5943526" y="3047107"/>
            <a:ext cx="313710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6F1E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encourage a culture of sharing</a:t>
            </a:r>
            <a:endParaRPr lang="en-US" sz="1440" dirty="0"/>
          </a:p>
        </p:txBody>
      </p:sp>
      <p:sp>
        <p:nvSpPr>
          <p:cNvPr id="24" name="Shape 22"/>
          <p:cNvSpPr/>
          <p:nvPr/>
        </p:nvSpPr>
        <p:spPr>
          <a:xfrm>
            <a:off x="593378" y="4760156"/>
            <a:ext cx="1647825" cy="23812"/>
          </a:xfrm>
          <a:prstGeom prst="rect">
            <a:avLst/>
          </a:prstGeom>
          <a:solidFill>
            <a:srgbClr val="E7A547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92264" y="2005273"/>
            <a:ext cx="2376487" cy="495300"/>
          </a:xfrm>
          <a:prstGeom prst="rect">
            <a:avLst/>
          </a:prstGeom>
        </p:spPr>
      </p:pic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09" y="2005273"/>
            <a:ext cx="2376487" cy="495300"/>
          </a:xfrm>
          <a:prstGeom prst="rect">
            <a:avLst/>
          </a:prstGeom>
        </p:spPr>
      </p:pic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92264" y="2782156"/>
            <a:ext cx="2376487" cy="495300"/>
          </a:xfrm>
          <a:prstGeom prst="rect">
            <a:avLst/>
          </a:prstGeom>
        </p:spPr>
      </p:pic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44009" y="2782156"/>
            <a:ext cx="2376487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45" y="360015"/>
            <a:ext cx="160709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216" kern="0" dirty="0">
                <a:solidFill>
                  <a:srgbClr val="65757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FIRST MOVE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031807" y="360015"/>
            <a:ext cx="730352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194" kern="0" dirty="0">
                <a:solidFill>
                  <a:srgbClr val="8F969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06 / 06</a:t>
            </a:r>
            <a:endParaRPr lang="en-US" sz="970" dirty="0"/>
          </a:p>
        </p:txBody>
      </p:sp>
      <p:sp>
        <p:nvSpPr>
          <p:cNvPr id="5" name="Text 2"/>
          <p:cNvSpPr/>
          <p:nvPr/>
        </p:nvSpPr>
        <p:spPr>
          <a:xfrm>
            <a:off x="594345" y="709613"/>
            <a:ext cx="7271407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240" b="1" spc="-194" kern="0" dirty="0">
                <a:solidFill>
                  <a:srgbClr val="112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 the campus resource loop</a:t>
            </a:r>
            <a:endParaRPr lang="en-US" sz="3240" dirty="0"/>
          </a:p>
        </p:txBody>
      </p:sp>
      <p:sp>
        <p:nvSpPr>
          <p:cNvPr id="6" name="Shape 3"/>
          <p:cNvSpPr/>
          <p:nvPr/>
        </p:nvSpPr>
        <p:spPr>
          <a:xfrm>
            <a:off x="5578376" y="1800671"/>
            <a:ext cx="2833687" cy="2833687"/>
          </a:xfrm>
          <a:prstGeom prst="ellipse">
            <a:avLst/>
          </a:prstGeom>
          <a:ln w="14288">
            <a:solidFill>
              <a:srgbClr val="0F283C">
                <a:alpha val="2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54489" y="2109267"/>
            <a:ext cx="1690688" cy="1690688"/>
          </a:xfrm>
          <a:prstGeom prst="ellipse">
            <a:avLst/>
          </a:prstGeom>
          <a:ln w="14288">
            <a:solidFill>
              <a:srgbClr val="E7A54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795008" y="2469766"/>
            <a:ext cx="409575" cy="409575"/>
          </a:xfrm>
          <a:prstGeom prst="ellipse">
            <a:avLst/>
          </a:prstGeom>
          <a:solidFill>
            <a:srgbClr val="11263D"/>
          </a:solidFill>
          <a:ln/>
        </p:spPr>
      </p:sp>
      <p:sp>
        <p:nvSpPr>
          <p:cNvPr id="9" name="Shape 6"/>
          <p:cNvSpPr/>
          <p:nvPr/>
        </p:nvSpPr>
        <p:spPr>
          <a:xfrm>
            <a:off x="6425389" y="2229600"/>
            <a:ext cx="823913" cy="19050"/>
          </a:xfrm>
          <a:prstGeom prst="rect">
            <a:avLst/>
          </a:prstGeom>
          <a:solidFill>
            <a:srgbClr val="E7A547"/>
          </a:solidFill>
          <a:ln/>
        </p:spPr>
      </p:sp>
      <p:sp>
        <p:nvSpPr>
          <p:cNvPr id="10" name="Shape 7"/>
          <p:cNvSpPr/>
          <p:nvPr/>
        </p:nvSpPr>
        <p:spPr>
          <a:xfrm>
            <a:off x="7111189" y="2707252"/>
            <a:ext cx="823913" cy="19050"/>
          </a:xfrm>
          <a:prstGeom prst="rect">
            <a:avLst/>
          </a:prstGeom>
          <a:solidFill>
            <a:srgbClr val="E7A547"/>
          </a:solidFill>
          <a:ln/>
        </p:spPr>
      </p:sp>
      <p:sp>
        <p:nvSpPr>
          <p:cNvPr id="11" name="Shape 8"/>
          <p:cNvSpPr/>
          <p:nvPr/>
        </p:nvSpPr>
        <p:spPr>
          <a:xfrm>
            <a:off x="593861" y="2005273"/>
            <a:ext cx="4481512" cy="495300"/>
          </a:xfrm>
          <a:prstGeom prst="rect">
            <a:avLst/>
          </a:prstGeom>
          <a:ln/>
        </p:spPr>
      </p:sp>
      <p:sp>
        <p:nvSpPr>
          <p:cNvPr id="12" name="Text 9"/>
          <p:cNvSpPr/>
          <p:nvPr/>
        </p:nvSpPr>
        <p:spPr>
          <a:xfrm>
            <a:off x="594345" y="2111946"/>
            <a:ext cx="303349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E7A54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370" dirty="0"/>
          </a:p>
        </p:txBody>
      </p:sp>
      <p:sp>
        <p:nvSpPr>
          <p:cNvPr id="13" name="Text 10"/>
          <p:cNvSpPr/>
          <p:nvPr/>
        </p:nvSpPr>
        <p:spPr>
          <a:xfrm>
            <a:off x="920874" y="2069083"/>
            <a:ext cx="472564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1263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Start with one college and the most requested</a:t>
            </a:r>
            <a:endParaRPr lang="en-US" sz="1440" dirty="0"/>
          </a:p>
        </p:txBody>
      </p:sp>
      <p:sp>
        <p:nvSpPr>
          <p:cNvPr id="14" name="Text 11"/>
          <p:cNvSpPr/>
          <p:nvPr/>
        </p:nvSpPr>
        <p:spPr>
          <a:xfrm>
            <a:off x="920874" y="2270224"/>
            <a:ext cx="203796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1263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resource categories</a:t>
            </a:r>
            <a:endParaRPr lang="en-US" sz="1440" dirty="0"/>
          </a:p>
        </p:txBody>
      </p:sp>
      <p:sp>
        <p:nvSpPr>
          <p:cNvPr id="15" name="Shape 12"/>
          <p:cNvSpPr/>
          <p:nvPr/>
        </p:nvSpPr>
        <p:spPr>
          <a:xfrm>
            <a:off x="593861" y="2618147"/>
            <a:ext cx="4481512" cy="352425"/>
          </a:xfrm>
          <a:prstGeom prst="rect">
            <a:avLst/>
          </a:prstGeom>
          <a:ln/>
        </p:spPr>
      </p:sp>
      <p:sp>
        <p:nvSpPr>
          <p:cNvPr id="16" name="Text 13"/>
          <p:cNvSpPr/>
          <p:nvPr/>
        </p:nvSpPr>
        <p:spPr>
          <a:xfrm>
            <a:off x="594345" y="2724224"/>
            <a:ext cx="337594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E7A54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370" dirty="0"/>
          </a:p>
        </p:txBody>
      </p:sp>
      <p:sp>
        <p:nvSpPr>
          <p:cNvPr id="17" name="Text 14"/>
          <p:cNvSpPr/>
          <p:nvPr/>
        </p:nvSpPr>
        <p:spPr>
          <a:xfrm>
            <a:off x="947217" y="2681362"/>
            <a:ext cx="447112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1263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Make listings easy to post and easy to verify</a:t>
            </a:r>
            <a:endParaRPr lang="en-US" sz="1440" dirty="0"/>
          </a:p>
        </p:txBody>
      </p:sp>
      <p:sp>
        <p:nvSpPr>
          <p:cNvPr id="18" name="Shape 15"/>
          <p:cNvSpPr/>
          <p:nvPr/>
        </p:nvSpPr>
        <p:spPr>
          <a:xfrm>
            <a:off x="593861" y="3088146"/>
            <a:ext cx="4481512" cy="495300"/>
          </a:xfrm>
          <a:prstGeom prst="rect">
            <a:avLst/>
          </a:prstGeom>
          <a:ln/>
        </p:spPr>
      </p:sp>
      <p:sp>
        <p:nvSpPr>
          <p:cNvPr id="19" name="Text 16"/>
          <p:cNvSpPr/>
          <p:nvPr/>
        </p:nvSpPr>
        <p:spPr>
          <a:xfrm>
            <a:off x="594345" y="3194819"/>
            <a:ext cx="340109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E7A54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370" dirty="0"/>
          </a:p>
        </p:txBody>
      </p:sp>
      <p:sp>
        <p:nvSpPr>
          <p:cNvPr id="20" name="Text 17"/>
          <p:cNvSpPr/>
          <p:nvPr/>
        </p:nvSpPr>
        <p:spPr>
          <a:xfrm>
            <a:off x="949151" y="3151956"/>
            <a:ext cx="438115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1263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 ratings, reporting, and campus pickup</a:t>
            </a:r>
            <a:endParaRPr lang="en-US" sz="1440" dirty="0"/>
          </a:p>
        </p:txBody>
      </p:sp>
      <p:sp>
        <p:nvSpPr>
          <p:cNvPr id="21" name="Text 18"/>
          <p:cNvSpPr/>
          <p:nvPr/>
        </p:nvSpPr>
        <p:spPr>
          <a:xfrm>
            <a:off x="949151" y="3353098"/>
            <a:ext cx="98951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1263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guidance</a:t>
            </a:r>
            <a:endParaRPr lang="en-US" sz="1440" dirty="0"/>
          </a:p>
        </p:txBody>
      </p:sp>
      <p:sp>
        <p:nvSpPr>
          <p:cNvPr id="22" name="Shape 19"/>
          <p:cNvSpPr/>
          <p:nvPr/>
        </p:nvSpPr>
        <p:spPr>
          <a:xfrm>
            <a:off x="593861" y="3700425"/>
            <a:ext cx="4481512" cy="495300"/>
          </a:xfrm>
          <a:prstGeom prst="rect">
            <a:avLst/>
          </a:prstGeom>
          <a:ln/>
        </p:spPr>
      </p:sp>
      <p:sp>
        <p:nvSpPr>
          <p:cNvPr id="23" name="Text 20"/>
          <p:cNvSpPr/>
          <p:nvPr/>
        </p:nvSpPr>
        <p:spPr>
          <a:xfrm>
            <a:off x="594345" y="3807098"/>
            <a:ext cx="346011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E7A54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370" dirty="0"/>
          </a:p>
        </p:txBody>
      </p:sp>
      <p:sp>
        <p:nvSpPr>
          <p:cNvPr id="24" name="Text 21"/>
          <p:cNvSpPr/>
          <p:nvPr/>
        </p:nvSpPr>
        <p:spPr>
          <a:xfrm>
            <a:off x="953691" y="3764235"/>
            <a:ext cx="460646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1263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Keep resources affordable, accessible, and in</a:t>
            </a:r>
            <a:endParaRPr lang="en-US" sz="1440" dirty="0"/>
          </a:p>
        </p:txBody>
      </p:sp>
      <p:sp>
        <p:nvSpPr>
          <p:cNvPr id="25" name="Text 22"/>
          <p:cNvSpPr/>
          <p:nvPr/>
        </p:nvSpPr>
        <p:spPr>
          <a:xfrm>
            <a:off x="953691" y="3965377"/>
            <a:ext cx="115242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1263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circulation</a:t>
            </a:r>
            <a:endParaRPr lang="en-US" sz="1440" dirty="0"/>
          </a:p>
        </p:txBody>
      </p:sp>
      <p:sp>
        <p:nvSpPr>
          <p:cNvPr id="26" name="Shape 23"/>
          <p:cNvSpPr/>
          <p:nvPr/>
        </p:nvSpPr>
        <p:spPr>
          <a:xfrm>
            <a:off x="595387" y="4670227"/>
            <a:ext cx="61912" cy="61912"/>
          </a:xfrm>
          <a:prstGeom prst="ellipse">
            <a:avLst/>
          </a:prstGeom>
          <a:solidFill>
            <a:srgbClr val="E7A547"/>
          </a:solidFill>
          <a:ln/>
        </p:spPr>
      </p:sp>
      <p:sp>
        <p:nvSpPr>
          <p:cNvPr id="27" name="Text 24"/>
          <p:cNvSpPr/>
          <p:nvPr/>
        </p:nvSpPr>
        <p:spPr>
          <a:xfrm>
            <a:off x="749722" y="4618881"/>
            <a:ext cx="145405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173" kern="0" dirty="0">
                <a:solidFill>
                  <a:srgbClr val="65757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KEEP IT MOVING</a:t>
            </a:r>
            <a:endParaRPr lang="en-US" sz="86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3861" y="2005273"/>
            <a:ext cx="4481512" cy="495300"/>
          </a:xfrm>
          <a:prstGeom prst="rect">
            <a:avLst/>
          </a:prstGeom>
        </p:spPr>
      </p:pic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3861" y="2618147"/>
            <a:ext cx="4481512" cy="352425"/>
          </a:xfrm>
          <a:prstGeom prst="rect">
            <a:avLst/>
          </a:prstGeom>
        </p:spPr>
      </p:pic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3861" y="3088146"/>
            <a:ext cx="4481512" cy="495300"/>
          </a:xfrm>
          <a:prstGeom prst="rect">
            <a:avLst/>
          </a:prstGeom>
        </p:spPr>
      </p:pic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3861" y="3700425"/>
            <a:ext cx="4481512" cy="495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2026-08-28T13:19:38Z</dcterms:created>
  <dcterms:modified xsi:type="dcterms:W3CDTF">2026-08-28T13:19:38Z</dcterms:modified>
</cp:coreProperties>
</file>